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useoModerno Thin"/>
      <p:regular r:id="rId201314"/>
    </p:embeddedFont>
    <p:embeddedFont>
      <p:font typeface="MuseoModerno ExtraLight"/>
      <p:regular r:id="rId201315"/>
    </p:embeddedFont>
    <p:embeddedFont>
      <p:font typeface="MuseoModerno Light"/>
      <p:regular r:id="rId201316"/>
    </p:embeddedFont>
    <p:embeddedFont>
      <p:font typeface="MuseoModerno"/>
      <p:regular r:id="rId201317"/>
    </p:embeddedFont>
    <p:embeddedFont>
      <p:font typeface="MuseoModerno Medium"/>
      <p:regular r:id="rId201318"/>
    </p:embeddedFont>
    <p:embeddedFont>
      <p:font typeface="MuseoModerno SemiBold"/>
      <p:regular r:id="rId201319"/>
    </p:embeddedFont>
    <p:embeddedFont>
      <p:font typeface="MuseoModerno Bold"/>
      <p:regular r:id="rId201320"/>
    </p:embeddedFont>
    <p:embeddedFont>
      <p:font typeface="MuseoModerno ExtraBold"/>
      <p:regular r:id="rId201321"/>
    </p:embeddedFont>
    <p:embeddedFont>
      <p:font typeface="MuseoModerno Black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7.png"/><Relationship Id="rId10" Type="http://schemas.openxmlformats.org/officeDocument/2006/relationships/image" Target="../media/image-3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74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Shopping Behavior Analytics Pipeline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2607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Data Analytics Project using Python, PostgreSQL, SQL, and Power BI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12356"/>
            <a:ext cx="649114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325f7b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10174" y="3054846"/>
            <a:ext cx="93620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DATA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45075" y="3012356"/>
            <a:ext cx="107885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325f7b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30130" y="3054846"/>
            <a:ext cx="13659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CLEANING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94772" y="3012356"/>
            <a:ext cx="810816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325f7b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79827" y="3054846"/>
            <a:ext cx="109790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676430" y="3012356"/>
            <a:ext cx="829494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325f7b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1485" y="3054846"/>
            <a:ext cx="11165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349600"/>
            <a:ext cx="126496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325f7b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10174" y="3392091"/>
            <a:ext cx="15520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DASHBOARD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85701"/>
            <a:ext cx="1193527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28192"/>
            <a:ext cx="14806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0880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 Complete Analytics Workflow — From CSV to Dashboard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50738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analyzes customer shopping behavior to uncover revenue trends, segment performance, and product insights — delivered through an interactive Power BI dashboard connected to PostgreSQL.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1913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3.9K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909637" y="38362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Customers Analyzed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31913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$59.76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597548" y="3836268"/>
            <a:ext cx="1948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Purchase Amount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48747" y="319132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3.75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462266" y="38362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Review Rating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9633"/>
            <a:ext cx="1070670" cy="244376"/>
          </a:xfrm>
          <a:prstGeom prst="roundRect">
            <a:avLst>
              <a:gd name="adj" fmla="val 652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559445"/>
            <a:ext cx="1368475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813792"/>
            <a:ext cx="522543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Problem &amp;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119" y="1415951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business needed to understand customer shopping behavior and identify revenue trends, high-value segments, and product performance patterns. Six key questions drove the analysis: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68029"/>
            <a:ext cx="2634183" cy="9887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460" y="2115220"/>
            <a:ext cx="17400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&amp; Categories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0460" y="2397621"/>
            <a:ext cx="2282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product categories generate the highest revenue?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871" y="1968029"/>
            <a:ext cx="2634183" cy="9887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9212" y="2115220"/>
            <a:ext cx="19556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Demographics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59212" y="2397621"/>
            <a:ext cx="2282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age groups contribute the most revenue?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624" y="1968029"/>
            <a:ext cx="2634183" cy="9887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65" y="211522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Subscription Impact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217965" y="2397621"/>
            <a:ext cx="2282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 subscribers spend more than non-subscribers?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81338"/>
            <a:ext cx="2634183" cy="11964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0460" y="3228529"/>
            <a:ext cx="2282651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Product &amp; Review Performance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00460" y="3718620"/>
            <a:ext cx="2282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products are top performers and what is the overall review rating pattern?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4871" y="3081338"/>
            <a:ext cx="2634183" cy="119642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59212" y="32285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Strategic Focus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459212" y="3510930"/>
            <a:ext cx="228265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Which customer segments should the business prioritize?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96119" y="4417888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Raw customer data was converted into decision-ready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8281"/>
            <a:ext cx="905768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60772"/>
            <a:ext cx="119285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138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Solution Architecture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6137"/>
            <a:ext cx="5177582" cy="44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538734"/>
            <a:ext cx="26050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End-to-End Pipeline Flow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190194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analytics architecture from raw data ingestion to interactive BI reporting.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264259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286449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973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CSV Dataset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6119" y="3279949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customer transaction data ingestion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60601" y="264259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0601" y="286449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3260601" y="2973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Python + Pandas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260601" y="3279949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&amp; feature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25083" y="264259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25083" y="286449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8" name="Text 15"/>
          <p:cNvSpPr/>
          <p:nvPr/>
        </p:nvSpPr>
        <p:spPr>
          <a:xfrm>
            <a:off x="6025083" y="2973437"/>
            <a:ext cx="2267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SQLAlchemy → PostgreSQL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025083" y="3279949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database loading via URL.create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6119" y="37547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6119" y="3976688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2" name="Text 19"/>
          <p:cNvSpPr/>
          <p:nvPr/>
        </p:nvSpPr>
        <p:spPr>
          <a:xfrm>
            <a:off x="496119" y="4085630"/>
            <a:ext cx="1879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DBeaver SQL Analysis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96119" y="439214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CTEs, window functions, ranking queries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42842" y="37547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42842" y="3976688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6" name="Text 23"/>
          <p:cNvSpPr/>
          <p:nvPr/>
        </p:nvSpPr>
        <p:spPr>
          <a:xfrm>
            <a:off x="4642842" y="4085630"/>
            <a:ext cx="18139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642842" y="439214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BI reporting &amp; business insights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3147"/>
            <a:ext cx="1097533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5637"/>
            <a:ext cx="138462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6253"/>
            <a:ext cx="50004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Backend Data Preparation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9184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and Pandas transformed the raw CSV into a clean, analysis-ready dataset.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919883"/>
            <a:ext cx="2538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Column Standardization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28309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Lowercase snake_case naming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column validation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Unnecessary field removal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204418"/>
            <a:ext cx="26515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Example Transformations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567633"/>
            <a:ext cx="3902943" cy="1113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ID →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Amount (USD) →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purchase_amount_usd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Rating →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 of Purchases →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frequency_of_purchases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191988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Cleaning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283098"/>
            <a:ext cx="3902943" cy="1622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raw CSV into Pandas DataFrame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column names to snake_case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Category-wise median imputation for missing ratings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using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qcut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Mapped frequency text labels to numeric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Validated and removed redundant columns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70508"/>
            <a:ext cx="1284982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12999"/>
            <a:ext cx="157207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93614"/>
            <a:ext cx="76404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Engineering for Business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4920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engineered fields made the dataset SQL-ready and BI-compatible.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335485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7" name="Shape 5"/>
          <p:cNvSpPr/>
          <p:nvPr/>
        </p:nvSpPr>
        <p:spPr>
          <a:xfrm>
            <a:off x="637877" y="2477244"/>
            <a:ext cx="425276" cy="425276"/>
          </a:xfrm>
          <a:prstGeom prst="ellipse">
            <a:avLst/>
          </a:prstGeom>
          <a:solidFill>
            <a:srgbClr val="325F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594149"/>
            <a:ext cx="191319" cy="191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7877" y="30442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review_rating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350791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values filled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category-wise median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preserving product-category behavior patterns.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2335485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12" name="Shape 9"/>
          <p:cNvSpPr/>
          <p:nvPr/>
        </p:nvSpPr>
        <p:spPr>
          <a:xfrm>
            <a:off x="3402360" y="2477244"/>
            <a:ext cx="425276" cy="425276"/>
          </a:xfrm>
          <a:prstGeom prst="ellipse">
            <a:avLst/>
          </a:prstGeom>
          <a:solidFill>
            <a:srgbClr val="325F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594149"/>
            <a:ext cx="191319" cy="1913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2360" y="30442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age_group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02360" y="3350791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bucketed into: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Young Adult, Adult, Middle-aged, Senior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demographic segmentation.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2335485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17" name="Shape 13"/>
          <p:cNvSpPr/>
          <p:nvPr/>
        </p:nvSpPr>
        <p:spPr>
          <a:xfrm>
            <a:off x="6166842" y="2477244"/>
            <a:ext cx="425276" cy="425276"/>
          </a:xfrm>
          <a:prstGeom prst="ellipse">
            <a:avLst/>
          </a:prstGeom>
          <a:solidFill>
            <a:srgbClr val="325F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594149"/>
            <a:ext cx="191319" cy="1913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6842" y="3044279"/>
            <a:ext cx="22267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purchase_frequency_days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66842" y="3350791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 labels mapped to numeric days: Weekly=7, Fortnightly=14, Monthly=30, Quarterly=90, Annually=365.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7859" cy="110430"/>
          </a:xfrm>
          <a:prstGeom prst="roundRect">
            <a:avLst>
              <a:gd name="adj" fmla="val 7703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6007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LAYER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42738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PostgreSQL as the Analytics Database Layer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31852"/>
            <a:ext cx="16772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Database Loading Approach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578001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cleaned Pandas DataFrame was loaded into a local PostgreSQL database using SQLAlchemy.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694905"/>
            <a:ext cx="3989412" cy="28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SQLAlchemy engine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URL.create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secure connections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DataFrame pushed directly into PostgreSQL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became the central analytics layer for SQL and Power BI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496119" y="3019351"/>
            <a:ext cx="3989412" cy="191393"/>
          </a:xfrm>
          <a:prstGeom prst="roundRect">
            <a:avLst>
              <a:gd name="adj" fmla="val 5555"/>
            </a:avLst>
          </a:prstGeom>
          <a:solidFill>
            <a:srgbClr val="DBE8F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3107903"/>
            <a:ext cx="88553" cy="70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356" y="3068910"/>
            <a:ext cx="414553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converted a flat CSV into a structured database table suitable for querying, reporting, and BI integration.</a:t>
            </a:r>
            <a:endParaRPr lang="en-US" sz="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28824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757"/>
            <a:ext cx="613097" cy="163562"/>
          </a:xfrm>
          <a:prstGeom prst="roundRect">
            <a:avLst>
              <a:gd name="adj" fmla="val 7151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54534" y="421928"/>
            <a:ext cx="953467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ANALYTICS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3109"/>
            <a:ext cx="393486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Advanced SQL Analysis Layer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63451"/>
            <a:ext cx="5215458" cy="2808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4018" y="1734294"/>
            <a:ext cx="169403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SQL Techniques Used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54018" y="1913334"/>
            <a:ext cx="225816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Questions Answered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54018" y="2132558"/>
            <a:ext cx="2698626" cy="751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revenue by gender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customers spending above average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5 products by average review rating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 vs. non-subscriber revenue comparison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vs. Express shipping purchase behavior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54018" y="2944416"/>
            <a:ext cx="269862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analysis in DBeaver used to validate metrics and generate business insights.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656" y="4027289"/>
            <a:ext cx="146149" cy="1461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2750" y="4022527"/>
            <a:ext cx="371735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Aggregations &amp; GROUP BY analysis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0358" y="4027289"/>
            <a:ext cx="146149" cy="1461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0453" y="4022527"/>
            <a:ext cx="3717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CTEs for modular query design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656" y="4458370"/>
            <a:ext cx="146149" cy="1461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2750" y="4453607"/>
            <a:ext cx="371735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Window functions &amp; ranking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0358" y="4458370"/>
            <a:ext cx="146149" cy="1461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0453" y="4453607"/>
            <a:ext cx="3717429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&amp; customer segmentation queries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831800" cy="140791"/>
          </a:xfrm>
          <a:prstGeom prst="roundRect">
            <a:avLst>
              <a:gd name="adj" fmla="val 7363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47911" y="415751"/>
            <a:ext cx="118541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INTELLIGENCE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51631"/>
            <a:ext cx="385896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Interactive Power BI Dashboard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6119" y="900485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Desktop connected directly to PostgreSQL, building an interactive dashboard for stakeholder analysis.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29978"/>
            <a:ext cx="5224835" cy="2960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36456" y="2348508"/>
            <a:ext cx="172938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 Components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36456" y="2536031"/>
            <a:ext cx="2716113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KPI Cards: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Total Customers, Avg. Purchase Amount, Avg. Review Rating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Visuals: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Donut chart, category revenue charts, age group breakdowns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Slicers:</a:t>
            </a:r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Subscription Status, Gender, Category, Shipping Type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96119" y="4252168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3.9K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92870" y="4619848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35300" y="4252168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$59.76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032052" y="4619848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Purchase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74482" y="4252168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3.75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71233" y="4619848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Rating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80876" cy="168325"/>
          </a:xfrm>
          <a:prstGeom prst="roundRect">
            <a:avLst>
              <a:gd name="adj" fmla="val 7106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55873" y="419695"/>
            <a:ext cx="918567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6160"/>
            <a:ext cx="31638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Business Insights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1534"/>
            <a:ext cx="3954289" cy="28462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8355" y="1072753"/>
            <a:ext cx="220116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Category Revenue Highlights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698355" y="1298451"/>
            <a:ext cx="3954289" cy="616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Clothing: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$104,264 — 1,737 sales, dominant category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Accessories: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$74,200 — 1,240 sales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Footwear: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$36,093 — 599 sales</a:t>
            </a:r>
            <a:endParaRPr lang="en-US" sz="750" dirty="0"/>
          </a:p>
          <a:p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Outerwear:</a:t>
            </a:r>
            <a:pPr algn="l" marL="152400" indent="-152400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$18,524 — 324 sales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98355" y="1993925"/>
            <a:ext cx="3954289" cy="447377"/>
          </a:xfrm>
          <a:prstGeom prst="roundRect">
            <a:avLst>
              <a:gd name="adj" fmla="val 3342"/>
            </a:avLst>
          </a:prstGeom>
          <a:solidFill>
            <a:srgbClr val="DBE8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996" y="2126456"/>
            <a:ext cx="124569" cy="99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2205" y="2081808"/>
            <a:ext cx="3530798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leads both revenue and volume — prioritize for marketing and inventory planning.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96119" y="4085406"/>
            <a:ext cx="2670572" cy="668610"/>
          </a:xfrm>
          <a:prstGeom prst="roundRect">
            <a:avLst>
              <a:gd name="adj" fmla="val 2236"/>
            </a:avLst>
          </a:prstGeom>
          <a:solidFill>
            <a:srgbClr val="F3EEE3"/>
          </a:solidFill>
          <a:ln/>
        </p:spPr>
      </p:sp>
      <p:sp>
        <p:nvSpPr>
          <p:cNvPr id="12" name="Text 8"/>
          <p:cNvSpPr/>
          <p:nvPr/>
        </p:nvSpPr>
        <p:spPr>
          <a:xfrm>
            <a:off x="595759" y="418504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Subscription Gap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95759" y="4382765"/>
            <a:ext cx="2471291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73% non-subscribers vs. 27% subscribers — strong conversion opportunity.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236714" y="4085406"/>
            <a:ext cx="2670572" cy="668610"/>
          </a:xfrm>
          <a:prstGeom prst="roundRect">
            <a:avLst>
              <a:gd name="adj" fmla="val 2236"/>
            </a:avLst>
          </a:prstGeom>
          <a:solidFill>
            <a:srgbClr val="F3EEE3"/>
          </a:solidFill>
          <a:ln/>
        </p:spPr>
      </p:sp>
      <p:sp>
        <p:nvSpPr>
          <p:cNvPr id="15" name="Text 11"/>
          <p:cNvSpPr/>
          <p:nvPr/>
        </p:nvSpPr>
        <p:spPr>
          <a:xfrm>
            <a:off x="3336354" y="4185047"/>
            <a:ext cx="13532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Revenue Segment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36354" y="4382765"/>
            <a:ext cx="2471291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Adults: $62,143 — highest-value demographic for targeted campaigns.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977310" y="4085406"/>
            <a:ext cx="2670572" cy="668610"/>
          </a:xfrm>
          <a:prstGeom prst="roundRect">
            <a:avLst>
              <a:gd name="adj" fmla="val 2236"/>
            </a:avLst>
          </a:prstGeom>
          <a:solidFill>
            <a:srgbClr val="F3EEE3"/>
          </a:solidFill>
          <a:ln/>
        </p:spPr>
      </p:sp>
      <p:sp>
        <p:nvSpPr>
          <p:cNvPr id="18" name="Text 14"/>
          <p:cNvSpPr/>
          <p:nvPr/>
        </p:nvSpPr>
        <p:spPr>
          <a:xfrm>
            <a:off x="6076950" y="418504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Strongest Season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76950" y="4382765"/>
            <a:ext cx="2471291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Fall: $60,018 — ideal for seasonal campaign planning.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2026-07-06T19:11:29Z</dcterms:created>
  <dcterms:modified xsi:type="dcterms:W3CDTF">2026-07-06T19:11:29Z</dcterms:modified>
</cp:coreProperties>
</file>